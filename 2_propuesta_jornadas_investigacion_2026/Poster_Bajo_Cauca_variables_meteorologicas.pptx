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200638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8000"/>
    <a:srgbClr val="339933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" d="100"/>
          <a:sy n="20" d="100"/>
        </p:scale>
        <p:origin x="53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935498C3-C232-BEF6-C580-6315087DD637}"/>
              </a:ext>
            </a:extLst>
          </p:cNvPr>
          <p:cNvSpPr/>
          <p:nvPr/>
        </p:nvSpPr>
        <p:spPr>
          <a:xfrm>
            <a:off x="4181" y="8247751"/>
            <a:ext cx="43263638" cy="2415224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1B3BA3E-2F47-9A2D-EF13-E043FA1A4A62}"/>
              </a:ext>
            </a:extLst>
          </p:cNvPr>
          <p:cNvSpPr/>
          <p:nvPr/>
        </p:nvSpPr>
        <p:spPr>
          <a:xfrm>
            <a:off x="-63000" y="-32248"/>
            <a:ext cx="43254000" cy="8280000"/>
          </a:xfrm>
          <a:prstGeom prst="rect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TextBox 3"/>
          <p:cNvSpPr txBox="1"/>
          <p:nvPr/>
        </p:nvSpPr>
        <p:spPr>
          <a:xfrm>
            <a:off x="1044000" y="643907"/>
            <a:ext cx="41040000" cy="2219445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>
              <a:spcAft>
                <a:spcPts val="868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PATRONES TEMPORALES Y ASOCIACIONES EN VARIABLES</a:t>
            </a:r>
          </a:p>
          <a:p>
            <a:pPr algn="ctr">
              <a:spcAft>
                <a:spcPts val="868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METEOROLÓGICAS ABIERTAS DEL BAJO CAUCA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3325905"/>
            <a:ext cx="39600000" cy="996033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>
              <a:spcAft>
                <a:spcPts val="560"/>
              </a:spcAft>
              <a:defRPr sz="2000" b="0" i="0">
                <a:solidFill>
                  <a:srgbClr val="DAE7EF"/>
                </a:solidFill>
                <a:latin typeface="Aptos"/>
              </a:defRPr>
            </a:pPr>
            <a:r>
              <a:rPr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</a:t>
            </a:r>
            <a:r>
              <a:rPr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exploración</a:t>
            </a:r>
            <a:r>
              <a:rPr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reproducible con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4000" y="4872690"/>
            <a:ext cx="41040000" cy="220662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>
              <a:spcAft>
                <a:spcPts val="364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Marcos Julio Cañas Campillo  •  Manuel Medina Guerra  •  Juan Camilo Guerra Mercado  •  Keren Castro Julio</a:t>
            </a:r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spcAft>
                <a:spcPts val="364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lang="es-C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Cristian Camilo Yarce Álvarez • Alexander Ricardo Chanci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64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Antioquia — Campus Caucasia  |  Contacto: </a:t>
            </a:r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sz="4400">
                <a:latin typeface="Times New Roman" panose="02020603050405020304" pitchFamily="18" charset="0"/>
                <a:cs typeface="Times New Roman" panose="02020603050405020304" pitchFamily="18" charset="0"/>
              </a:rPr>
              <a:t>eren</a:t>
            </a:r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.castro@udea.edu.co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80000" y="9000000"/>
            <a:ext cx="13320000" cy="936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0000" y="9000000"/>
            <a:ext cx="198000" cy="9360000"/>
          </a:xfrm>
          <a:prstGeom prst="rect">
            <a:avLst/>
          </a:prstGeom>
          <a:solidFill>
            <a:srgbClr val="00B050"/>
          </a:solidFill>
          <a:ln>
            <a:solidFill>
              <a:srgbClr val="AE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04000" y="9162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· PROBLEMA Y JUSTIFICACIÓN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4000" y="10188000"/>
            <a:ext cx="12744000" cy="43200"/>
          </a:xfrm>
          <a:prstGeom prst="rect">
            <a:avLst/>
          </a:prstGeom>
          <a:solidFill>
            <a:srgbClr val="00B050"/>
          </a:solidFill>
          <a:ln>
            <a:solidFill>
              <a:srgbClr val="AE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04000" y="10332000"/>
            <a:ext cx="12780000" cy="6398360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Bajo Cauca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lluvia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sus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actividades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agrícolas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ganaderas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mineras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para el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abastecimiento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Los datos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públicos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(IDEAM, NASA POWER y ERA5)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están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dispersos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presentan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distintos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vacíos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no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siempre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limpieza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documentados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16"/>
              </a:spcAft>
              <a:buFont typeface="Wingdings" panose="05000000000000000000" pitchFamily="2" charset="2"/>
              <a:buChar char="v"/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Pregunta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investigación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tendencias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estacionales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interanual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incluida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relación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ENSO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variables se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 series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públicas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Bajo Cauca, y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cómo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explorarlas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Python de forma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verificable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reproducible?</a:t>
            </a: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Aporta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insumos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planificación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riesgo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producción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Propone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línea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local con datos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abiertos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16"/>
              </a:spcAft>
              <a:defRPr sz="1130" b="0" i="0">
                <a:solidFill>
                  <a:srgbClr val="273038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Fortalece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manejo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datos y el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pensamiento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crítico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40000" y="9000000"/>
            <a:ext cx="13320000" cy="936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940000" y="9000000"/>
            <a:ext cx="198000" cy="93600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264000" y="9162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· OBJETIVOS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64000" y="10188000"/>
            <a:ext cx="12744000" cy="432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264000" y="10332000"/>
            <a:ext cx="12780000" cy="7260134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marL="457200" indent="-457200" algn="l">
              <a:spcAft>
                <a:spcPts val="319"/>
              </a:spcAft>
              <a:buFont typeface="Wingdings" panose="05000000000000000000" pitchFamily="2" charset="2"/>
              <a:buChar char="v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19"/>
              </a:spcAft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temporales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público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Bajo Cauca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mediante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flujo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trabajo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documentado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reproducible.</a:t>
            </a:r>
          </a:p>
          <a:p>
            <a:pPr algn="l">
              <a:spcAft>
                <a:spcPts val="319"/>
              </a:spcAft>
              <a:defRPr sz="114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19"/>
              </a:spcAft>
              <a:buFont typeface="Wingdings" panose="05000000000000000000" pitchFamily="2" charset="2"/>
              <a:buChar char="v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específicos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l">
              <a:spcAft>
                <a:spcPts val="319"/>
              </a:spcAft>
              <a:buFont typeface="Arial" panose="020B0604020202020204" pitchFamily="34" charset="0"/>
              <a:buChar char="•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públicas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cobertura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resolución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vacíos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spcAft>
                <a:spcPts val="319"/>
              </a:spcAft>
              <a:buFont typeface="Arial" panose="020B0604020202020204" pitchFamily="34" charset="0"/>
              <a:buChar char="•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conjunto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depurado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control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tratamiento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documentado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faltantes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spcAft>
                <a:spcPts val="319"/>
              </a:spcAft>
              <a:buFont typeface="Arial" panose="020B0604020202020204" pitchFamily="34" charset="0"/>
              <a:buChar char="•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Describir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tendencia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estacionalidad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interanual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precipitación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humedad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spcAft>
                <a:spcPts val="319"/>
              </a:spcAft>
              <a:buFont typeface="Arial" panose="020B0604020202020204" pitchFamily="34" charset="0"/>
              <a:buChar char="•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variables y con un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ENSO,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ONI.</a:t>
            </a:r>
          </a:p>
          <a:p>
            <a:pPr marL="457200" indent="-457200" algn="l">
              <a:spcAft>
                <a:spcPts val="319"/>
              </a:spcAft>
              <a:buFont typeface="Arial" panose="020B0604020202020204" pitchFamily="34" charset="0"/>
              <a:buChar char="•"/>
              <a:defRPr sz="114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cuadernos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repositorio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replicación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0000" y="9000000"/>
            <a:ext cx="13320000" cy="936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28800000" y="9000000"/>
            <a:ext cx="198000" cy="9360000"/>
          </a:xfrm>
          <a:prstGeom prst="rect">
            <a:avLst/>
          </a:prstGeom>
          <a:solidFill>
            <a:srgbClr val="00B050"/>
          </a:solidFill>
          <a:ln>
            <a:solidFill>
              <a:srgbClr val="DD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24000" y="9162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· MARCO CONCEPTUAL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124000" y="10188000"/>
            <a:ext cx="12744000" cy="43200"/>
          </a:xfrm>
          <a:prstGeom prst="rect">
            <a:avLst/>
          </a:prstGeom>
          <a:solidFill>
            <a:srgbClr val="00B050"/>
          </a:solidFill>
          <a:ln>
            <a:solidFill>
              <a:srgbClr val="DD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124000" y="10332000"/>
            <a:ext cx="12780000" cy="5290364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ü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climática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cambio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climático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ü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Estacionalidad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interanual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ü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ENSO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modulador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climática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Colombia.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ü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Fuentes de datos: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satelitales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reanálisis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ventajas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ü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Ciencia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abierta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FAIR.</a:t>
            </a: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v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Fuentes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consideradas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IDEAM · NASA POWER · ERA5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0" y="18792000"/>
            <a:ext cx="13320000" cy="1242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0000" y="18792000"/>
            <a:ext cx="198000" cy="124200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04000" y="18954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/>
              <a:t>04 · METODOLOGÍA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4000" y="19980000"/>
            <a:ext cx="12744000" cy="432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04000" y="20124000"/>
            <a:ext cx="12780000" cy="8360435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v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Flujo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trabajo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propuesto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spcAft>
                <a:spcPts val="336"/>
              </a:spcAft>
              <a:buFont typeface="+mj-lt"/>
              <a:buAutoNum type="arabicPeriod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Recolectar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datos de IDEAM, NASA POWER y ERA5;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CHIRPS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precipitación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spcAft>
                <a:spcPts val="336"/>
              </a:spcAft>
              <a:buFont typeface="+mj-lt"/>
              <a:buAutoNum type="arabicPeriod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Unificar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unidades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atípicos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vacíos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excluir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justificación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l">
              <a:spcAft>
                <a:spcPts val="336"/>
              </a:spcAft>
              <a:buFont typeface="+mj-lt"/>
              <a:buAutoNum type="arabicPeriod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descriptivo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estadísticos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climatologías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mensuales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anomalías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descomposición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estacional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l">
              <a:spcAft>
                <a:spcPts val="336"/>
              </a:spcAft>
              <a:buFont typeface="+mj-lt"/>
              <a:buAutoNum type="arabicPeriod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tendencias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prueba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Mann–Kendall y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pendiente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Sen.</a:t>
            </a:r>
          </a:p>
          <a:p>
            <a:pPr marL="514350" indent="-514350" algn="l">
              <a:spcAft>
                <a:spcPts val="336"/>
              </a:spcAft>
              <a:buFont typeface="+mj-lt"/>
              <a:buAutoNum type="arabicPeriod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mediante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Spearman o Pearson,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rezagos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ONI.</a:t>
            </a: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satélite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reanálisis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disponibles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cuaderno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Jupyter,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repositorio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archivo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entorno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6"/>
              </a:spcAft>
              <a:buFont typeface="Wingdings" panose="05000000000000000000" pitchFamily="2" charset="2"/>
              <a:buChar char="v"/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Herramientas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36"/>
              </a:spcAft>
              <a:defRPr sz="120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· Pandas · NumPy · Matplotlib · SciPy · Jupyter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940000" y="18792000"/>
            <a:ext cx="13320000" cy="1242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4940000" y="18792000"/>
            <a:ext cx="198000" cy="12420000"/>
          </a:xfrm>
          <a:prstGeom prst="rect">
            <a:avLst/>
          </a:prstGeom>
          <a:solidFill>
            <a:srgbClr val="00B050"/>
          </a:solidFill>
          <a:ln>
            <a:solidFill>
              <a:srgbClr val="DD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264000" y="18954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· RESULTADOS / AVANCES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64000" y="19980000"/>
            <a:ext cx="12744000" cy="43200"/>
          </a:xfrm>
          <a:prstGeom prst="rect">
            <a:avLst/>
          </a:prstGeom>
          <a:solidFill>
            <a:srgbClr val="00B050"/>
          </a:solidFill>
          <a:ln>
            <a:solidFill>
              <a:srgbClr val="DD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264000" y="20124000"/>
            <a:ext cx="12780000" cy="5821279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marL="457200" indent="-457200" algn="l">
              <a:spcAft>
                <a:spcPts val="341"/>
              </a:spcAft>
              <a:buFont typeface="Wingdings" panose="05000000000000000000" pitchFamily="2" charset="2"/>
              <a:buChar char="v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Estado del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trabajo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propuesta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metodológica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plan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41"/>
              </a:spcAft>
              <a:defRPr sz="122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Wingdings" panose="05000000000000000000" pitchFamily="2" charset="2"/>
              <a:buChar char="v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Avances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previstos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spcAft>
                <a:spcPts val="341"/>
              </a:spcAft>
              <a:defRPr sz="122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Inventario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caracterización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abiertas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depurado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trazable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estacionales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tendencias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interanual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precipitación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humedad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ONI.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41"/>
              </a:spcAft>
              <a:buFont typeface="Arial" panose="020B0604020202020204" pitchFamily="34" charset="0"/>
              <a:buChar char="•"/>
              <a:defRPr sz="1220" b="0" i="0">
                <a:solidFill>
                  <a:srgbClr val="273038"/>
                </a:solidFill>
                <a:latin typeface="Aptos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procedimiento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otros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equipos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puedan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replicarlo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41"/>
              </a:spcAft>
              <a:defRPr sz="122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8800000" y="18792000"/>
            <a:ext cx="13320000" cy="124200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124000" y="18954000"/>
            <a:ext cx="12780000" cy="6882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spcAft>
                <a:spcPts val="476"/>
              </a:spcAft>
              <a:defRPr sz="1700" b="1" i="0">
                <a:solidFill>
                  <a:srgbClr val="163959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· CONCLUSIONES Y REFERENCIAS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24000" y="20124000"/>
            <a:ext cx="12780000" cy="9345320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marL="457200" indent="-457200" algn="l">
              <a:spcAft>
                <a:spcPts val="330"/>
              </a:spcAft>
              <a:buFont typeface="Wingdings" panose="05000000000000000000" pitchFamily="2" charset="2"/>
              <a:buChar char="v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esperadas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spcAft>
                <a:spcPts val="330"/>
              </a:spcAft>
              <a:defRPr sz="118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flujo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reproducible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permitirá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limpieza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abiertas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puede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aportar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línea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para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estudiar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meteorológica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Bajo Cauca.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interpretación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dependerá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cobertura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calidad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limitaciones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fuente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30"/>
              </a:spcAft>
              <a:defRPr sz="118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330"/>
              </a:spcAft>
              <a:buFont typeface="Wingdings" panose="05000000000000000000" pitchFamily="2" charset="2"/>
              <a:buChar char="v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Referencias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spcAft>
                <a:spcPts val="330"/>
              </a:spcAft>
              <a:defRPr sz="1180" b="0" i="0">
                <a:solidFill>
                  <a:srgbClr val="273038"/>
                </a:solidFill>
                <a:latin typeface="Aptos"/>
              </a:defRPr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de Hidrología, Meteorología y Estudios Ambientales. (s. f.). Catálogo Nacional de Estaciones del IDEAM. </a:t>
            </a:r>
          </a:p>
          <a:p>
            <a:pPr marL="457200" indent="-457200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Aeronautics and Space Administration. (s. f.). NASA POWER.</a:t>
            </a:r>
          </a:p>
          <a:p>
            <a:pPr marL="457200" indent="-457200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Hersbach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et al. (2020). The ERA5 global reanalysis. Quarterly Journal of the Royal Meteorological Society, 146(730), 1999–2049.</a:t>
            </a:r>
          </a:p>
          <a:p>
            <a:pPr marL="457200" indent="-457200">
              <a:spcAft>
                <a:spcPts val="330"/>
              </a:spcAft>
              <a:buFont typeface="Arial" panose="020B0604020202020204" pitchFamily="34" charset="0"/>
              <a:buChar char="•"/>
              <a:defRPr sz="1180" b="0" i="0">
                <a:solidFill>
                  <a:srgbClr val="273038"/>
                </a:solidFill>
                <a:latin typeface="Aptos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Oceanic and Atmospheric Administration, Climate Prediction Center. (s. f.). Oceanic Niño Index (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ONI).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17C9E58A-5889-FD44-E51A-39DC34C8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00" y="-1951821"/>
            <a:ext cx="8691360" cy="11247642"/>
          </a:xfrm>
          <a:prstGeom prst="rect">
            <a:avLst/>
          </a:prstGeom>
        </p:spPr>
      </p:pic>
      <p:sp>
        <p:nvSpPr>
          <p:cNvPr id="50" name="Rectangle 16">
            <a:extLst>
              <a:ext uri="{FF2B5EF4-FFF2-40B4-BE49-F238E27FC236}">
                <a16:creationId xmlns:a16="http://schemas.microsoft.com/office/drawing/2014/main" id="{41EF4AFD-F506-338E-ABD3-8665E97D9C0D}"/>
              </a:ext>
            </a:extLst>
          </p:cNvPr>
          <p:cNvSpPr/>
          <p:nvPr/>
        </p:nvSpPr>
        <p:spPr>
          <a:xfrm flipH="1">
            <a:off x="28548000" y="18954000"/>
            <a:ext cx="216000" cy="122580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8">
            <a:extLst>
              <a:ext uri="{FF2B5EF4-FFF2-40B4-BE49-F238E27FC236}">
                <a16:creationId xmlns:a16="http://schemas.microsoft.com/office/drawing/2014/main" id="{38351DAA-1684-C960-BB11-D9F476B677EC}"/>
              </a:ext>
            </a:extLst>
          </p:cNvPr>
          <p:cNvSpPr/>
          <p:nvPr/>
        </p:nvSpPr>
        <p:spPr>
          <a:xfrm>
            <a:off x="29052000" y="20001600"/>
            <a:ext cx="12744000" cy="43200"/>
          </a:xfrm>
          <a:prstGeom prst="rect">
            <a:avLst/>
          </a:prstGeom>
          <a:solidFill>
            <a:srgbClr val="1E747E"/>
          </a:solidFill>
          <a:ln>
            <a:solidFill>
              <a:srgbClr val="1E7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696</Words>
  <Application>Microsoft Office PowerPoint</Application>
  <PresentationFormat>Personalizado</PresentationFormat>
  <Paragraphs>72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cañas</cp:lastModifiedBy>
  <cp:revision>7</cp:revision>
  <dcterms:created xsi:type="dcterms:W3CDTF">2013-01-27T09:14:16Z</dcterms:created>
  <dcterms:modified xsi:type="dcterms:W3CDTF">2026-10-21T20:21:26Z</dcterms:modified>
  <cp:category/>
</cp:coreProperties>
</file>