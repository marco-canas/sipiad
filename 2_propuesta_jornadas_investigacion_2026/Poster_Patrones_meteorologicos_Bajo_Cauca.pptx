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" d="100"/>
          <a:sy n="20" d="100"/>
        </p:scale>
        <p:origin x="1196" y="-12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400000" cy="7200000"/>
          </a:xfrm>
          <a:prstGeom prst="rect">
            <a:avLst/>
          </a:prstGeom>
          <a:solidFill>
            <a:srgbClr val="113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983999"/>
            <a:ext cx="32400000" cy="216000"/>
          </a:xfrm>
          <a:prstGeom prst="rect">
            <a:avLst/>
          </a:prstGeom>
          <a:solidFill>
            <a:srgbClr val="1B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2000" y="540000"/>
            <a:ext cx="30815999" cy="2592000"/>
          </a:xfrm>
          <a:prstGeom prst="rect">
            <a:avLst/>
          </a:prstGeom>
          <a:noFill/>
        </p:spPr>
        <p:txBody>
          <a:bodyPr wrap="square" lIns="54000" tIns="54000" rIns="54000" bIns="54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PATRONES TEMPORALES Y ASOCIACIONES EN VARIABLES
METEOROLÓGICAS ABIERTAS DEL BAJO CAUCA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3132000"/>
            <a:ext cx="30240000" cy="792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0" i="0">
                <a:solidFill>
                  <a:srgbClr val="CCE7EB"/>
                </a:solidFill>
                <a:latin typeface="Aptos"/>
              </a:rPr>
              <a:t>Una exploración reproducible con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4212000"/>
            <a:ext cx="30240000" cy="108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Marcos Julio Cañas Campillo  ·  Manuel Medina Guerra  ·  Juan Camilo Guerra Mercado  ·  Keren Castro Julio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5400000"/>
            <a:ext cx="30240000" cy="827999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Universidad de Antioquia · Campus Caucasia | Contacto: por completar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7920000"/>
            <a:ext cx="30960000" cy="2664000"/>
          </a:xfrm>
          <a:prstGeom prst="roundRect">
            <a:avLst/>
          </a:prstGeom>
          <a:solidFill>
            <a:srgbClr val="E0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0000" y="8100000"/>
            <a:ext cx="30240000" cy="2304000"/>
          </a:xfrm>
          <a:prstGeom prst="rect">
            <a:avLst/>
          </a:prstGeom>
          <a:noFill/>
        </p:spPr>
        <p:txBody>
          <a:bodyPr wrap="square" lIns="144000" tIns="144000" rIns="144000" bIns="14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3757"/>
                </a:solidFill>
                <a:latin typeface="Aptos"/>
              </a:rPr>
              <a:t>PREGUNTA DE INVESTIGACIÓN
¿Qué tendencias, patrones estacionales, variabilidad interanual —incluida su relación con ENSO— y asociaciones entre variables se observan en series meteorológicas públicas del Bajo Cauca, y cómo explorarlas con Python de forma verificable y reproducible?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11160000"/>
            <a:ext cx="9864000" cy="68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0000" y="11160000"/>
            <a:ext cx="9864000" cy="450000"/>
          </a:xfrm>
          <a:prstGeom prst="roundRect">
            <a:avLst/>
          </a:prstGeom>
          <a:solidFill>
            <a:srgbClr val="1B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6000" y="11203200"/>
            <a:ext cx="9612000" cy="36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PROBLEMA Y JUSTIFICACIÓN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000" y="11682000"/>
            <a:ext cx="9612000" cy="622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 dirty="0">
                <a:solidFill>
                  <a:srgbClr val="253038"/>
                </a:solidFill>
                <a:latin typeface="Aptos"/>
              </a:rPr>
              <a:t>• La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lluvia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y la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temperatura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inciden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en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las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actividades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agrícolas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ganaderas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mineras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y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en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el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abastecimiento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de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agua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del Bajo Cauca.
• Los datos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públicos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(IDEAM, NASA POWER y ERA5)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están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dispersos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presentan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formatos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distintos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y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vacíos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; la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limpieza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no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siempre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queda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documentada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.
•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Comprender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el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clima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local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aporta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a la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planificación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, la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gestión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del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riesgo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y la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producción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.
• El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proyecto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busca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una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línea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base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abierta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, reproducible y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útil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para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fortalecer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el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manejo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de datos y el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pensamiento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253038"/>
                </a:solidFill>
                <a:latin typeface="Aptos"/>
              </a:rPr>
              <a:t>crítico</a:t>
            </a:r>
            <a:r>
              <a:rPr sz="1500" b="0" i="0" dirty="0">
                <a:solidFill>
                  <a:srgbClr val="253038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18540000"/>
            <a:ext cx="9864000" cy="79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0000" y="18540000"/>
            <a:ext cx="9864000" cy="450000"/>
          </a:xfrm>
          <a:prstGeom prst="roundRect">
            <a:avLst/>
          </a:prstGeom>
          <a:solidFill>
            <a:srgbClr val="1D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6000" y="18583200"/>
            <a:ext cx="9612000" cy="36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OBJETIVOS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000" y="19062000"/>
            <a:ext cx="9612000" cy="730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253038"/>
                </a:solidFill>
                <a:latin typeface="Aptos"/>
              </a:rPr>
              <a:t>GENERAL
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Explorar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patrones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temporales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y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asociaciones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en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variables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meteorológicas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públicas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del Bajo Cauca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mediante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un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flujo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trabajo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en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Python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documentado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y reproducible.
ESPECÍFICOS
1.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Caracterizar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las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fuentes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disponibles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: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cobertura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resolución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periodo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y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vacíos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.
2.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Construir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datos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depurados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y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documentar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control de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calidad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y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tratamiento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faltantes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.
3.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Describir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tendencia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estacionalidad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y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variabilidad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interanual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precipitación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temperatura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y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humedad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.
4.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Explorar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asociaciones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entre variables y con el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índice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ONI de ENSO.
5.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Publicar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cuadernos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y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repositorio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para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facilitar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 la </a:t>
            </a:r>
            <a:r>
              <a:rPr sz="1400" b="0" i="0" dirty="0" err="1">
                <a:solidFill>
                  <a:srgbClr val="253038"/>
                </a:solidFill>
                <a:latin typeface="Aptos"/>
              </a:rPr>
              <a:t>replicación</a:t>
            </a:r>
            <a:r>
              <a:rPr sz="1400" b="0" i="0" dirty="0">
                <a:solidFill>
                  <a:srgbClr val="253038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7000000"/>
            <a:ext cx="9864000" cy="59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20000" y="27000000"/>
            <a:ext cx="9864000" cy="450000"/>
          </a:xfrm>
          <a:prstGeom prst="roundRect">
            <a:avLst/>
          </a:prstGeom>
          <a:solidFill>
            <a:srgbClr val="48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6000" y="27043200"/>
            <a:ext cx="9612000" cy="36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MARCO CONCEPTUAL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000" y="27522000"/>
            <a:ext cx="9612000" cy="532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53038"/>
                </a:solidFill>
                <a:latin typeface="Aptos"/>
              </a:rPr>
              <a:t>• Variabilidad climática y cambio climático.
• Estacionalidad y variabilidad interanual.
• ENSO como modulador de la variabilidad climática en Colombia.
• Estaciones, productos satelitales y reanálisis: ventajas y limitaciones.
• Ciencia abierta, reproducibilidad y principios FAIR.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68000" y="11160000"/>
            <a:ext cx="9864000" cy="100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268000" y="11160000"/>
            <a:ext cx="9864000" cy="450000"/>
          </a:xfrm>
          <a:prstGeom prst="roundRect">
            <a:avLst/>
          </a:prstGeom>
          <a:solidFill>
            <a:srgbClr val="1D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394000" y="11203200"/>
            <a:ext cx="9612000" cy="36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METODOLOGÍA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94000" y="11682000"/>
            <a:ext cx="9612000" cy="946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53038"/>
                </a:solidFill>
                <a:latin typeface="Aptos"/>
              </a:rPr>
              <a:t>1. RECOLECCIÓN
Descarga de datos del IDEAM, NASA POWER y ERA5; CHIRPS como fuente opcional de precipitación.
2. LIMPIEZA Y CONTROL DE CALIDAD
Unificación de formatos y unidades; detección de atípicos; análisis de vacíos e imputación o exclusión justificada.
3. ANÁLISIS DESCRIPTIVO
Estadísticos, climatologías mensuales, anomalías y descomposición estacional.
4. TENDENCIAS
Prueba de Mann–Kendall y pendiente de Sen.
5. ASOCIACIONES
Correlaciones de Spearman o Pearson, rezagos y relación con ONI.
6. COMPARACIÓN
Contraste entre reanálisis/satélite y estaciones disponibles.
7. DOCUMENTACIÓN
Cuaderno Jupyter, repositorio y archivo de entorno.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268000" y="21600000"/>
            <a:ext cx="9864000" cy="48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1268000" y="21600000"/>
            <a:ext cx="9864000" cy="450000"/>
          </a:xfrm>
          <a:prstGeom prst="roundRect">
            <a:avLst/>
          </a:prstGeom>
          <a:solidFill>
            <a:srgbClr val="1B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394000" y="21643200"/>
            <a:ext cx="9612000" cy="36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HERRAMIENTAS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94000" y="22122000"/>
            <a:ext cx="9612000" cy="424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 dirty="0">
                <a:solidFill>
                  <a:srgbClr val="253038"/>
                </a:solidFill>
                <a:latin typeface="Aptos"/>
              </a:rPr>
              <a:t>Python · Jupyter Notebook
Pandas · NumPy · Matplotlib · SciPy
</a:t>
            </a:r>
            <a:r>
              <a:rPr sz="1700" b="0" i="0" dirty="0" err="1">
                <a:solidFill>
                  <a:srgbClr val="253038"/>
                </a:solidFill>
                <a:latin typeface="Aptos"/>
              </a:rPr>
              <a:t>Flujo</a:t>
            </a:r>
            <a:r>
              <a:rPr sz="1700" b="0" i="0" dirty="0">
                <a:solidFill>
                  <a:srgbClr val="253038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253038"/>
                </a:solidFill>
                <a:latin typeface="Aptos"/>
              </a:rPr>
              <a:t>documentado</a:t>
            </a:r>
            <a:r>
              <a:rPr sz="1700" b="0" i="0" dirty="0">
                <a:solidFill>
                  <a:srgbClr val="253038"/>
                </a:solidFill>
                <a:latin typeface="Aptos"/>
              </a:rPr>
              <a:t>, reproducible y con control de </a:t>
            </a:r>
            <a:r>
              <a:rPr sz="1700" b="0" i="0" dirty="0" err="1">
                <a:solidFill>
                  <a:srgbClr val="253038"/>
                </a:solidFill>
                <a:latin typeface="Aptos"/>
              </a:rPr>
              <a:t>calidad</a:t>
            </a:r>
            <a:r>
              <a:rPr sz="1700" b="0" i="0" dirty="0">
                <a:solidFill>
                  <a:srgbClr val="253038"/>
                </a:solidFill>
                <a:latin typeface="Aptos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68000" y="26820000"/>
            <a:ext cx="9864000" cy="6120000"/>
          </a:xfrm>
          <a:prstGeom prst="roundRect">
            <a:avLst/>
          </a:prstGeom>
          <a:solidFill>
            <a:srgbClr val="E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48000" y="27000000"/>
            <a:ext cx="9504000" cy="576000"/>
          </a:xfrm>
          <a:prstGeom prst="rect">
            <a:avLst/>
          </a:prstGeom>
          <a:noFill/>
        </p:spPr>
        <p:txBody>
          <a:bodyPr wrap="square" lIns="90000" tIns="90000" rIns="90000" bIns="900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13757"/>
                </a:solidFill>
                <a:latin typeface="Aptos"/>
              </a:rPr>
              <a:t>FLUJO DE TRABAJO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627999" y="27720000"/>
            <a:ext cx="1080000" cy="720000"/>
          </a:xfrm>
          <a:prstGeom prst="roundRect">
            <a:avLst/>
          </a:prstGeom>
          <a:solidFill>
            <a:srgbClr val="1B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627999" y="27738000"/>
            <a:ext cx="1080000" cy="648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24000" y="27702000"/>
            <a:ext cx="7703999" cy="75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53038"/>
                </a:solidFill>
                <a:latin typeface="Aptos"/>
              </a:rPr>
              <a:t>Fuentes
abiertas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27999" y="28728000"/>
            <a:ext cx="1080000" cy="720000"/>
          </a:xfrm>
          <a:prstGeom prst="roundRect">
            <a:avLst/>
          </a:prstGeom>
          <a:solidFill>
            <a:srgbClr val="1D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27999" y="28745999"/>
            <a:ext cx="1080000" cy="648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24000" y="28710000"/>
            <a:ext cx="7703999" cy="75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53038"/>
                </a:solidFill>
                <a:latin typeface="Aptos"/>
              </a:rPr>
              <a:t>Limpieza
y calidad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627999" y="29735999"/>
            <a:ext cx="1080000" cy="720000"/>
          </a:xfrm>
          <a:prstGeom prst="roundRect">
            <a:avLst/>
          </a:prstGeom>
          <a:solidFill>
            <a:srgbClr val="1B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627999" y="29753999"/>
            <a:ext cx="1080000" cy="648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24000" y="29718000"/>
            <a:ext cx="7703999" cy="75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53038"/>
                </a:solidFill>
                <a:latin typeface="Aptos"/>
              </a:rPr>
              <a:t>Análisis
temporal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627999" y="30744000"/>
            <a:ext cx="1080000" cy="720000"/>
          </a:xfrm>
          <a:prstGeom prst="roundRect">
            <a:avLst/>
          </a:prstGeom>
          <a:solidFill>
            <a:srgbClr val="1D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27999" y="30762000"/>
            <a:ext cx="1080000" cy="648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24000" y="30726000"/>
            <a:ext cx="7703999" cy="75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53038"/>
                </a:solidFill>
                <a:latin typeface="Aptos"/>
              </a:rPr>
              <a:t>Asociaciones
y comparación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627999" y="31752000"/>
            <a:ext cx="1080000" cy="720000"/>
          </a:xfrm>
          <a:prstGeom prst="roundRect">
            <a:avLst/>
          </a:prstGeom>
          <a:solidFill>
            <a:srgbClr val="1B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627999" y="31770000"/>
            <a:ext cx="1080000" cy="648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24000" y="31734000"/>
            <a:ext cx="7703999" cy="75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53038"/>
                </a:solidFill>
                <a:latin typeface="Aptos"/>
              </a:rPr>
              <a:t>Publicación
reproducible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816000" y="11160000"/>
            <a:ext cx="9864000" cy="68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1816000" y="11160000"/>
            <a:ext cx="9864000" cy="450000"/>
          </a:xfrm>
          <a:prstGeom prst="roundRect">
            <a:avLst/>
          </a:prstGeom>
          <a:solidFill>
            <a:srgbClr val="DDA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942000" y="11203200"/>
            <a:ext cx="9612000" cy="36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RESULTADOS / AVANCES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2000" y="11682000"/>
            <a:ext cx="9612000" cy="622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53038"/>
                </a:solidFill>
                <a:latin typeface="Aptos"/>
              </a:rPr>
              <a:t>El documento fuente presenta el diseño metodológico y los análisis previstos; no reporta resultados empíricos calculados.
AVANCES ESPERADOS
• Conjunto de datos depurado y documentado.
• Descripción de tendencias, estacionalidad y variabilidad.
• Exploración de asociaciones entre variables y ONI.
• Comparación de fuentes y publicación del flujo reproducible.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816000" y="18540000"/>
            <a:ext cx="9864000" cy="54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1816000" y="18540000"/>
            <a:ext cx="9864000" cy="450000"/>
          </a:xfrm>
          <a:prstGeom prst="roundRect">
            <a:avLst/>
          </a:prstGeom>
          <a:solidFill>
            <a:srgbClr val="48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1942000" y="18583200"/>
            <a:ext cx="9612000" cy="36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CONCLUSIONES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2000" y="19062000"/>
            <a:ext cx="9612000" cy="478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53038"/>
                </a:solidFill>
                <a:latin typeface="Aptos"/>
              </a:rPr>
              <a:t>El proyecto propone una ruta reproducible para integrar y explorar datos meteorológicos abiertos del Bajo Cauca. Sus conclusiones sustantivas dependerán de la recolección, depuración y análisis de los datos; aún no se reportan hallazgos empíricos en el documento base.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816000" y="24480000"/>
            <a:ext cx="9864000" cy="54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1816000" y="24480000"/>
            <a:ext cx="9864000" cy="450000"/>
          </a:xfrm>
          <a:prstGeom prst="roundRect">
            <a:avLst/>
          </a:prstGeom>
          <a:solidFill>
            <a:srgbClr val="1D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1942000" y="24523200"/>
            <a:ext cx="9612000" cy="36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REFERENCIAS Y FUENTES DE DATOS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2000" y="25002000"/>
            <a:ext cx="9612000" cy="478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53038"/>
                </a:solidFill>
                <a:latin typeface="Aptos"/>
              </a:rPr>
              <a:t>• IDEAM. Datos meteorológicos públicos.
• NASA POWER. Datos meteorológicos y solares.
• ERA5. Datos de reanálisis atmosférico.
• CHIRPS. Datos de precipitación (opcional).
• Índice ONI para caracterizar ENSO.
Nota: completar las referencias bibliográficas y URL exactas antes de imprimir.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816000" y="30420000"/>
            <a:ext cx="9864000" cy="28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21816000" y="30420000"/>
            <a:ext cx="9864000" cy="450000"/>
          </a:xfrm>
          <a:prstGeom prst="roundRect">
            <a:avLst/>
          </a:prstGeom>
          <a:solidFill>
            <a:srgbClr val="1B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1942000" y="30463200"/>
            <a:ext cx="9612000" cy="36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CONTACTO Y AFILIACIÓN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942000" y="30942000"/>
            <a:ext cx="9612000" cy="226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53038"/>
                </a:solidFill>
                <a:latin typeface="Aptos"/>
              </a:rPr>
              <a:t>Universidad de Antioquia · Campus Caucasia
Correos electrónicos de los autores: por completar.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0000" y="34200000"/>
            <a:ext cx="30960000" cy="7740000"/>
          </a:xfrm>
          <a:prstGeom prst="roundRect">
            <a:avLst/>
          </a:prstGeom>
          <a:solidFill>
            <a:srgbClr val="113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440000" y="34560000"/>
            <a:ext cx="29520000" cy="1080000"/>
          </a:xfrm>
          <a:prstGeom prst="rect">
            <a:avLst/>
          </a:prstGeom>
          <a:noFill/>
        </p:spPr>
        <p:txBody>
          <a:bodyPr wrap="square" lIns="90000" tIns="90000" rIns="90000" bIns="90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CIENCIA ABIERTA · DATOS METEOROLÓGICOS · PYTHON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00000" y="36000000"/>
            <a:ext cx="28800000" cy="2160000"/>
          </a:xfrm>
          <a:prstGeom prst="rect">
            <a:avLst/>
          </a:prstGeom>
          <a:noFill/>
        </p:spPr>
        <p:txBody>
          <a:bodyPr wrap="square" lIns="108000" tIns="108000" rIns="108000" bIns="108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Aptos"/>
              </a:rPr>
              <a:t>La reproducibilidad permite documentar cada decisión —desde la descarga y limpieza hasta el análisis— para que otras personas puedan verificar, reutilizar y ampliar los resultados.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0000" y="38520000"/>
            <a:ext cx="28800000" cy="2160000"/>
          </a:xfrm>
          <a:prstGeom prst="rect">
            <a:avLst/>
          </a:prstGeom>
          <a:noFill/>
        </p:spPr>
        <p:txBody>
          <a:bodyPr wrap="square" lIns="108000" tIns="108000" rIns="108000" bIns="108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D3E2EB"/>
                </a:solidFill>
                <a:latin typeface="Aptos"/>
              </a:rPr>
              <a:t>Identidad visual: verificar y añadir el logotipo oficial de la Universidad de Antioquia conforme al manual institucional antes de enviar a impresión.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784</Words>
  <Application>Microsoft Office PowerPoint</Application>
  <PresentationFormat>Personalizado</PresentationFormat>
  <Paragraphs>37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cañas</cp:lastModifiedBy>
  <cp:revision>2</cp:revision>
  <dcterms:created xsi:type="dcterms:W3CDTF">2013-01-27T09:14:16Z</dcterms:created>
  <dcterms:modified xsi:type="dcterms:W3CDTF">2026-10-20T21:31:19Z</dcterms:modified>
  <cp:category/>
</cp:coreProperties>
</file>